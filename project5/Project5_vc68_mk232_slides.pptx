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y="5143500" cx="9144000"/>
  <p:notesSz cx="6858000" cy="9144000"/>
  <p:embeddedFontLst>
    <p:embeddedFont>
      <p:font typeface="Roboto"/>
      <p:regular r:id="rId27"/>
      <p:bold r:id="rId28"/>
      <p:italic r:id="rId29"/>
      <p:boldItalic r:id="rId3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EE3D41AD-151B-4EF9-9849-684DBE1F004C}">
  <a:tblStyle styleId="{EE3D41AD-151B-4EF9-9849-684DBE1F004C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font" Target="fonts/Roboto-bold.fntdata"/><Relationship Id="rId27" Type="http://schemas.openxmlformats.org/officeDocument/2006/relationships/font" Target="fonts/Roboto-regular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Roboto-italic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0" Type="http://schemas.openxmlformats.org/officeDocument/2006/relationships/font" Target="fonts/Roboto-boldItalic.fnt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a91e0ee850_4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" name="Google Shape;52;g3a91e0ee850_4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3a972949f59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3a972949f5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One way to achieve this is goal to generate multiple candidate paths</a:t>
            </a:r>
            <a:r>
              <a:rPr lang="en"/>
              <a:t> during planning</a:t>
            </a:r>
            <a:r>
              <a:rPr lang="en"/>
              <a:t>, and then find out which one is better after performing optimization. </a:t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a972949f59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3a972949f59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robot is Panda with 7 joints, and we have two environments, one is empty and the other one with spheres.</a:t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3a972949f59_0_5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3a972949f59_0_5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a96fc8733f_0_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a96fc8733f_0_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a96fc8733f_0_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a96fc8733f_0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a96fc8733f_0_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3a96fc8733f_0_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a96fc8733f_0_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3a96fc8733f_0_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a96fc8733f_0_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g3a96fc8733f_0_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a972949f59_0_5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3a972949f59_0_5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a972949f59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3a972949f59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a972949f59_0_5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" name="Google Shape;131;g3a972949f59_0_5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a972949f59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3a972949f59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a972949f59_0_6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a972949f59_0_6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a96fc8733f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" name="Google Shape;155;g3a96fc8733f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a972949f59_0_5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g3a972949f59_0_5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3a972949f59_0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" name="Google Shape;170;g3a972949f59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3a972949f59_0_6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8" name="Google Shape;178;g3a972949f59_0_6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3a96fc8733f_0_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6" name="Google Shape;186;g3a96fc8733f_0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3a96fc8733f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3" name="Google Shape;193;g3a96fc8733f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hyperlink" Target="http://drive.google.com/file/d/1bWokBQrfxJMSgj-022QPjjZsyO-ryyzg/view" TargetMode="External"/><Relationship Id="rId4" Type="http://schemas.openxmlformats.org/officeDocument/2006/relationships/image" Target="../media/image4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hyperlink" Target="http://drive.google.com/file/d/1k1XqVuO9DkF4doBi4oCK8Z8nzst7HHxe/view" TargetMode="External"/><Relationship Id="rId4" Type="http://schemas.openxmlformats.org/officeDocument/2006/relationships/image" Target="../media/image6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hyperlink" Target="http://drive.google.com/file/d/1qJUprAoTuVmfJFAyUhZ0oGZL45sT7RKD/view" TargetMode="External"/><Relationship Id="rId4" Type="http://schemas.openxmlformats.org/officeDocument/2006/relationships/image" Target="../media/image8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hyperlink" Target="http://drive.google.com/file/d/19PC-MOVvKtSiNH6IL6wUmES4EGY2PWgm/view" TargetMode="External"/><Relationship Id="rId4" Type="http://schemas.openxmlformats.org/officeDocument/2006/relationships/image" Target="../media/image7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4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hyperlink" Target="http://drive.google.com/file/d/1dBDFCF36JZv88zMs_pivX312lZ9Uplhh/view" TargetMode="External"/><Relationship Id="rId4" Type="http://schemas.openxmlformats.org/officeDocument/2006/relationships/image" Target="../media/image9.jp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hyperlink" Target="http://drive.google.com/file/d/1qRFG_73y3g5KK9a5Jh_CAEOvVGwsT7TX/view" TargetMode="External"/><Relationship Id="rId4" Type="http://schemas.openxmlformats.org/officeDocument/2006/relationships/image" Target="../media/image10.jp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2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0" y="462175"/>
            <a:ext cx="8520600" cy="9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667"/>
              <a:buNone/>
            </a:pPr>
            <a:r>
              <a:rPr lang="en" sz="2500"/>
              <a:t>Trajectory Optimization with Multiple Initial Motion Plans</a:t>
            </a:r>
            <a:endParaRPr sz="25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667"/>
              <a:buNone/>
            </a:pPr>
            <a:r>
              <a:t/>
            </a:r>
            <a:endParaRPr sz="2500"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5307025" y="3430125"/>
            <a:ext cx="3697800" cy="113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951"/>
              <a:buNone/>
            </a:pPr>
            <a:r>
              <a:rPr lang="en" sz="1240">
                <a:latin typeface="Arial"/>
                <a:ea typeface="Arial"/>
                <a:cs typeface="Arial"/>
                <a:sym typeface="Arial"/>
              </a:rPr>
              <a:t>Comp </a:t>
            </a:r>
            <a:r>
              <a:rPr lang="en" sz="1240"/>
              <a:t>550</a:t>
            </a:r>
            <a:br>
              <a:rPr lang="en" sz="1240">
                <a:latin typeface="Arial"/>
                <a:ea typeface="Arial"/>
                <a:cs typeface="Arial"/>
                <a:sym typeface="Arial"/>
              </a:rPr>
            </a:br>
            <a:br>
              <a:rPr lang="en" sz="1240">
                <a:latin typeface="Arial"/>
                <a:ea typeface="Arial"/>
                <a:cs typeface="Arial"/>
                <a:sym typeface="Arial"/>
              </a:rPr>
            </a:br>
            <a:r>
              <a:rPr lang="en" sz="1240">
                <a:latin typeface="Arial"/>
                <a:ea typeface="Arial"/>
                <a:cs typeface="Arial"/>
                <a:sym typeface="Arial"/>
              </a:rPr>
              <a:t>Speaker: </a:t>
            </a:r>
            <a:r>
              <a:rPr lang="en" sz="1240"/>
              <a:t>Vincent Chang - </a:t>
            </a:r>
            <a:r>
              <a:rPr lang="en" sz="1240">
                <a:latin typeface="Arial"/>
                <a:ea typeface="Arial"/>
                <a:cs typeface="Arial"/>
                <a:sym typeface="Arial"/>
              </a:rPr>
              <a:t>Moham</a:t>
            </a:r>
            <a:r>
              <a:rPr lang="en" sz="1240"/>
              <a:t>a</a:t>
            </a:r>
            <a:r>
              <a:rPr lang="en" sz="1240">
                <a:latin typeface="Arial"/>
                <a:ea typeface="Arial"/>
                <a:cs typeface="Arial"/>
                <a:sym typeface="Arial"/>
              </a:rPr>
              <a:t>d</a:t>
            </a:r>
            <a:r>
              <a:rPr lang="en" sz="1240"/>
              <a:t> Kreidieh</a:t>
            </a:r>
            <a:br>
              <a:rPr lang="en" sz="1240">
                <a:latin typeface="Arial"/>
                <a:ea typeface="Arial"/>
                <a:cs typeface="Arial"/>
                <a:sym typeface="Arial"/>
              </a:rPr>
            </a:br>
            <a:endParaRPr sz="124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951"/>
              <a:buNone/>
            </a:pPr>
            <a:r>
              <a:rPr lang="en" sz="1240"/>
              <a:t>Dec</a:t>
            </a:r>
            <a:r>
              <a:rPr lang="en" sz="124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" sz="1240"/>
              <a:t>04,</a:t>
            </a:r>
            <a:r>
              <a:rPr lang="en" sz="1240">
                <a:latin typeface="Arial"/>
                <a:ea typeface="Arial"/>
                <a:cs typeface="Arial"/>
                <a:sym typeface="Arial"/>
              </a:rPr>
              <a:t> 2025</a:t>
            </a:r>
            <a:endParaRPr sz="124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" name="Google Shape;56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chemeClr val="dk2"/>
                </a:solidFill>
              </a:rPr>
              <a:t>‹#›</a:t>
            </a:fld>
            <a:endParaRPr>
              <a:solidFill>
                <a:schemeClr val="dk2"/>
              </a:solidFill>
            </a:endParaRPr>
          </a:p>
        </p:txBody>
      </p:sp>
      <p:pic>
        <p:nvPicPr>
          <p:cNvPr id="57" name="Google Shape;57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2024599"/>
            <a:ext cx="4839824" cy="23443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Problem Statement &amp; Motivation</a:t>
            </a:r>
            <a:endParaRPr/>
          </a:p>
        </p:txBody>
      </p:sp>
      <p:sp>
        <p:nvSpPr>
          <p:cNvPr id="63" name="Google Shape;63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state of a manipulator can be described by a vector q of joint angles. </a:t>
            </a:r>
            <a:r>
              <a:rPr lang="en"/>
              <a:t>We rely on motors to apply torques to exert acceleration on joints to move and achieve collision-free paths under robot physical constraints.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We aim to get smoother motion such as continuous velocity q’ and acceleration q’’ after performing trajectory optimization within a limited time to boost the quality of the path.</a:t>
            </a:r>
            <a:endParaRPr/>
          </a:p>
        </p:txBody>
      </p:sp>
      <p:sp>
        <p:nvSpPr>
          <p:cNvPr id="64" name="Google Shape;64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chemeClr val="dk2"/>
                </a:solidFill>
              </a:rPr>
              <a:t>‹#›</a:t>
            </a:fld>
            <a:endParaRPr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Robot &amp; Environment - Panda with 7 DOF</a:t>
            </a:r>
            <a:endParaRPr/>
          </a:p>
        </p:txBody>
      </p:sp>
      <p:sp>
        <p:nvSpPr>
          <p:cNvPr id="70" name="Google Shape;70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chemeClr val="dk2"/>
                </a:solidFill>
              </a:rPr>
              <a:t>‹#›</a:t>
            </a:fld>
            <a:endParaRPr>
              <a:solidFill>
                <a:schemeClr val="dk2"/>
              </a:solidFill>
            </a:endParaRPr>
          </a:p>
        </p:txBody>
      </p:sp>
      <p:pic>
        <p:nvPicPr>
          <p:cNvPr id="71" name="Google Shape;71;p15"/>
          <p:cNvPicPr preferRelativeResize="0"/>
          <p:nvPr/>
        </p:nvPicPr>
        <p:blipFill rotWithShape="1">
          <a:blip r:embed="rId3">
            <a:alphaModFix/>
          </a:blip>
          <a:srcRect b="39917" l="34570" r="34870" t="4300"/>
          <a:stretch/>
        </p:blipFill>
        <p:spPr>
          <a:xfrm>
            <a:off x="311700" y="1373350"/>
            <a:ext cx="3857618" cy="3416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2" name="Google Shape;72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664650" y="1373350"/>
            <a:ext cx="3167647" cy="341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chemeClr val="dk2"/>
                </a:solidFill>
              </a:rPr>
              <a:t>‹#›</a:t>
            </a:fld>
            <a:endParaRPr>
              <a:solidFill>
                <a:schemeClr val="dk2"/>
              </a:solidFill>
            </a:endParaRPr>
          </a:p>
        </p:txBody>
      </p:sp>
      <p:pic>
        <p:nvPicPr>
          <p:cNvPr id="78" name="Google Shape;78;p16"/>
          <p:cNvPicPr preferRelativeResize="0"/>
          <p:nvPr/>
        </p:nvPicPr>
        <p:blipFill rotWithShape="1">
          <a:blip r:embed="rId3">
            <a:alphaModFix/>
          </a:blip>
          <a:srcRect b="7959" l="13772" r="9114" t="22407"/>
          <a:stretch/>
        </p:blipFill>
        <p:spPr>
          <a:xfrm>
            <a:off x="1689900" y="91450"/>
            <a:ext cx="6134574" cy="4960599"/>
          </a:xfrm>
          <a:prstGeom prst="rect">
            <a:avLst/>
          </a:prstGeom>
          <a:noFill/>
          <a:ln>
            <a:noFill/>
          </a:ln>
        </p:spPr>
      </p:pic>
      <p:sp>
        <p:nvSpPr>
          <p:cNvPr id="79" name="Google Shape;79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System Overview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7"/>
          <p:cNvSpPr txBox="1"/>
          <p:nvPr>
            <p:ph type="title"/>
          </p:nvPr>
        </p:nvSpPr>
        <p:spPr>
          <a:xfrm>
            <a:off x="311700" y="2585688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3000"/>
              <a:t>Planning time and Path length</a:t>
            </a:r>
            <a:endParaRPr i="1" sz="30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3000"/>
              <a:t>with and without obstacles</a:t>
            </a:r>
            <a:endParaRPr i="1" sz="3000"/>
          </a:p>
        </p:txBody>
      </p:sp>
      <p:sp>
        <p:nvSpPr>
          <p:cNvPr id="85" name="Google Shape;85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6" name="Google Shape;86;p17"/>
          <p:cNvSpPr txBox="1"/>
          <p:nvPr>
            <p:ph type="title"/>
          </p:nvPr>
        </p:nvSpPr>
        <p:spPr>
          <a:xfrm>
            <a:off x="311700" y="1716013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100"/>
              <a:t>Experimentation</a:t>
            </a:r>
            <a:endParaRPr sz="4100"/>
          </a:p>
        </p:txBody>
      </p:sp>
      <p:sp>
        <p:nvSpPr>
          <p:cNvPr id="87" name="Google Shape;87;p17"/>
          <p:cNvSpPr/>
          <p:nvPr/>
        </p:nvSpPr>
        <p:spPr>
          <a:xfrm>
            <a:off x="372725" y="-234675"/>
            <a:ext cx="96600" cy="568740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chemeClr val="dk2"/>
                </a:solidFill>
              </a:rPr>
              <a:t>‹#›</a:t>
            </a:fld>
            <a:endParaRPr>
              <a:solidFill>
                <a:schemeClr val="dk2"/>
              </a:solidFill>
            </a:endParaRPr>
          </a:p>
        </p:txBody>
      </p:sp>
      <p:sp>
        <p:nvSpPr>
          <p:cNvPr id="93" name="Google Shape;93;p18"/>
          <p:cNvSpPr txBox="1"/>
          <p:nvPr>
            <p:ph idx="1" type="body"/>
          </p:nvPr>
        </p:nvSpPr>
        <p:spPr>
          <a:xfrm>
            <a:off x="565200" y="625675"/>
            <a:ext cx="8013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SzPts val="560"/>
              <a:buNone/>
            </a:pPr>
            <a:r>
              <a:rPr b="1" lang="en" sz="2050">
                <a:solidFill>
                  <a:schemeClr val="dk1"/>
                </a:solidFill>
              </a:rPr>
              <a:t>Optimizing in an environment with obstacles takes more time</a:t>
            </a:r>
            <a:endParaRPr b="1" sz="2050">
              <a:solidFill>
                <a:schemeClr val="dk1"/>
              </a:solidFill>
            </a:endParaRPr>
          </a:p>
        </p:txBody>
      </p:sp>
      <p:graphicFrame>
        <p:nvGraphicFramePr>
          <p:cNvPr id="94" name="Google Shape;94;p18"/>
          <p:cNvGraphicFramePr/>
          <p:nvPr/>
        </p:nvGraphicFramePr>
        <p:xfrm>
          <a:off x="2641500" y="22728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{EE3D41AD-151B-4EF9-9849-684DBE1F004C}</a:tableStyleId>
              </a:tblPr>
              <a:tblGrid>
                <a:gridCol w="1287000"/>
                <a:gridCol w="1287000"/>
                <a:gridCol w="1287000"/>
              </a:tblGrid>
              <a:tr h="7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Task1</a:t>
                      </a:r>
                      <a:endParaRPr sz="7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63500" marB="63500" marR="63500" marL="635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Free Env1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Obs Env1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 anchor="ctr"/>
                </a:tc>
              </a:tr>
              <a:tr h="6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Average Path Length (m)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63500" marB="63500" marR="63500" marL="635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1.555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1.533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 anchor="ctr"/>
                </a:tc>
              </a:tr>
              <a:tr h="6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Average Planning Time (s)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63500" marB="63500" marR="63500" marL="635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0.236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1.021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00" name="Google Shape;100;p19" title="Experiment 1a - Obstacles.mkv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0"/>
            <a:ext cx="9144006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chemeClr val="dk2"/>
                </a:solidFill>
              </a:rPr>
              <a:t>‹#›</a:t>
            </a:fld>
            <a:endParaRPr>
              <a:solidFill>
                <a:schemeClr val="dk2"/>
              </a:solidFill>
            </a:endParaRPr>
          </a:p>
        </p:txBody>
      </p:sp>
      <p:sp>
        <p:nvSpPr>
          <p:cNvPr id="106" name="Google Shape;106;p20"/>
          <p:cNvSpPr txBox="1"/>
          <p:nvPr>
            <p:ph idx="1" type="body"/>
          </p:nvPr>
        </p:nvSpPr>
        <p:spPr>
          <a:xfrm>
            <a:off x="565200" y="625675"/>
            <a:ext cx="8013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SzPts val="560"/>
              <a:buNone/>
            </a:pPr>
            <a:r>
              <a:rPr b="1" lang="en" sz="2050">
                <a:solidFill>
                  <a:schemeClr val="dk1"/>
                </a:solidFill>
              </a:rPr>
              <a:t>Optimizing in an environment with obstacles takes more time</a:t>
            </a:r>
            <a:endParaRPr b="1" sz="2050">
              <a:solidFill>
                <a:schemeClr val="dk1"/>
              </a:solidFill>
            </a:endParaRPr>
          </a:p>
        </p:txBody>
      </p:sp>
      <p:graphicFrame>
        <p:nvGraphicFramePr>
          <p:cNvPr id="107" name="Google Shape;107;p20"/>
          <p:cNvGraphicFramePr/>
          <p:nvPr/>
        </p:nvGraphicFramePr>
        <p:xfrm>
          <a:off x="1600200" y="25325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{EE3D41AD-151B-4EF9-9849-684DBE1F004C}</a:tableStyleId>
              </a:tblPr>
              <a:tblGrid>
                <a:gridCol w="1981200"/>
                <a:gridCol w="1981200"/>
                <a:gridCol w="1981200"/>
              </a:tblGrid>
              <a:tr h="127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Task2</a:t>
                      </a:r>
                      <a:endParaRPr sz="7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63500" marB="63500" marR="63500" marL="635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Free Env2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Obs Env2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 anchor="ctr"/>
                </a:tc>
              </a:tr>
              <a:tr h="127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Average Path Length (m)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63500" marB="63500" marR="63500" marL="635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0.362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0.496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 anchor="ctr"/>
                </a:tc>
              </a:tr>
              <a:tr h="127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Average Planning Time (s)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63500" marB="63500" marR="63500" marL="635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5.364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69.011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13" name="Google Shape;113;p21" title="Experiment 1b - Obstacles.mkv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0"/>
            <a:ext cx="9144000" cy="514349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2"/>
          <p:cNvSpPr txBox="1"/>
          <p:nvPr>
            <p:ph type="title"/>
          </p:nvPr>
        </p:nvSpPr>
        <p:spPr>
          <a:xfrm>
            <a:off x="311700" y="2585688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3000"/>
              <a:t>VAMP Without Simplifier + TrajOpt</a:t>
            </a:r>
            <a:endParaRPr i="1" sz="3000"/>
          </a:p>
        </p:txBody>
      </p:sp>
      <p:sp>
        <p:nvSpPr>
          <p:cNvPr id="119" name="Google Shape;119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0" name="Google Shape;120;p22"/>
          <p:cNvSpPr txBox="1"/>
          <p:nvPr>
            <p:ph type="title"/>
          </p:nvPr>
        </p:nvSpPr>
        <p:spPr>
          <a:xfrm>
            <a:off x="311700" y="1716013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100"/>
              <a:t>Experimentation</a:t>
            </a:r>
            <a:endParaRPr sz="4100"/>
          </a:p>
        </p:txBody>
      </p:sp>
      <p:sp>
        <p:nvSpPr>
          <p:cNvPr id="121" name="Google Shape;121;p22"/>
          <p:cNvSpPr/>
          <p:nvPr/>
        </p:nvSpPr>
        <p:spPr>
          <a:xfrm>
            <a:off x="372725" y="-234675"/>
            <a:ext cx="96600" cy="56874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chemeClr val="dk2"/>
                </a:solidFill>
              </a:rPr>
              <a:t>‹#›</a:t>
            </a:fld>
            <a:endParaRPr>
              <a:solidFill>
                <a:schemeClr val="dk2"/>
              </a:solidFill>
            </a:endParaRPr>
          </a:p>
        </p:txBody>
      </p:sp>
      <p:pic>
        <p:nvPicPr>
          <p:cNvPr id="127" name="Google Shape;127;p23"/>
          <p:cNvPicPr preferRelativeResize="0"/>
          <p:nvPr/>
        </p:nvPicPr>
        <p:blipFill rotWithShape="1">
          <a:blip r:embed="rId3">
            <a:alphaModFix/>
          </a:blip>
          <a:srcRect b="0" l="4683" r="6773" t="0"/>
          <a:stretch/>
        </p:blipFill>
        <p:spPr>
          <a:xfrm>
            <a:off x="309563" y="1129400"/>
            <a:ext cx="8524877" cy="3438590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23"/>
          <p:cNvSpPr txBox="1"/>
          <p:nvPr>
            <p:ph idx="1" type="body"/>
          </p:nvPr>
        </p:nvSpPr>
        <p:spPr>
          <a:xfrm>
            <a:off x="597913" y="585325"/>
            <a:ext cx="7948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SzPts val="560"/>
              <a:buNone/>
            </a:pPr>
            <a:r>
              <a:rPr b="1" lang="en" sz="2050">
                <a:solidFill>
                  <a:schemeClr val="dk1"/>
                </a:solidFill>
              </a:rPr>
              <a:t>Better performance may not always be worth the extra effort!</a:t>
            </a:r>
            <a:endParaRPr b="1" sz="205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2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chemeClr val="dk2"/>
                </a:solidFill>
              </a:rPr>
              <a:t>‹#›</a:t>
            </a:fld>
            <a:endParaRPr>
              <a:solidFill>
                <a:schemeClr val="dk2"/>
              </a:solidFill>
            </a:endParaRPr>
          </a:p>
        </p:txBody>
      </p:sp>
      <p:pic>
        <p:nvPicPr>
          <p:cNvPr id="136" name="Google Shape;136;p24" title="Experiment 2b - 1 Path.mkv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2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2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chemeClr val="dk2"/>
                </a:solidFill>
              </a:rPr>
              <a:t>‹#›</a:t>
            </a:fld>
            <a:endParaRPr>
              <a:solidFill>
                <a:schemeClr val="dk2"/>
              </a:solidFill>
            </a:endParaRPr>
          </a:p>
        </p:txBody>
      </p:sp>
      <p:pic>
        <p:nvPicPr>
          <p:cNvPr id="144" name="Google Shape;144;p25" title="Experiment 2b - 64 Paths.mkv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6"/>
          <p:cNvSpPr txBox="1"/>
          <p:nvPr>
            <p:ph type="title"/>
          </p:nvPr>
        </p:nvSpPr>
        <p:spPr>
          <a:xfrm>
            <a:off x="311700" y="2585688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3000"/>
              <a:t>VAMP With Simplifier + TrajOpt</a:t>
            </a:r>
            <a:endParaRPr i="1" sz="3000"/>
          </a:p>
        </p:txBody>
      </p:sp>
      <p:sp>
        <p:nvSpPr>
          <p:cNvPr id="150" name="Google Shape;150;p2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51" name="Google Shape;151;p26"/>
          <p:cNvSpPr txBox="1"/>
          <p:nvPr>
            <p:ph type="title"/>
          </p:nvPr>
        </p:nvSpPr>
        <p:spPr>
          <a:xfrm>
            <a:off x="311700" y="1716013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100"/>
              <a:t>Experimentation</a:t>
            </a:r>
            <a:endParaRPr sz="4100"/>
          </a:p>
        </p:txBody>
      </p:sp>
      <p:sp>
        <p:nvSpPr>
          <p:cNvPr id="152" name="Google Shape;152;p26"/>
          <p:cNvSpPr/>
          <p:nvPr/>
        </p:nvSpPr>
        <p:spPr>
          <a:xfrm>
            <a:off x="372725" y="-234675"/>
            <a:ext cx="96600" cy="56874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27"/>
          <p:cNvSpPr txBox="1"/>
          <p:nvPr>
            <p:ph idx="1" type="body"/>
          </p:nvPr>
        </p:nvSpPr>
        <p:spPr>
          <a:xfrm>
            <a:off x="936975" y="605500"/>
            <a:ext cx="7225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SzPts val="605"/>
              <a:buNone/>
            </a:pPr>
            <a:r>
              <a:rPr b="1" lang="en" sz="2050">
                <a:solidFill>
                  <a:schemeClr val="dk1"/>
                </a:solidFill>
              </a:rPr>
              <a:t>Performance is almost always optimal!</a:t>
            </a:r>
            <a:endParaRPr b="1" sz="690">
              <a:solidFill>
                <a:schemeClr val="dk1"/>
              </a:solidFill>
            </a:endParaRPr>
          </a:p>
        </p:txBody>
      </p:sp>
      <p:sp>
        <p:nvSpPr>
          <p:cNvPr id="158" name="Google Shape;158;p2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chemeClr val="dk2"/>
                </a:solidFill>
              </a:rPr>
              <a:t>‹#›</a:t>
            </a:fld>
            <a:endParaRPr>
              <a:solidFill>
                <a:schemeClr val="dk2"/>
              </a:solidFill>
            </a:endParaRPr>
          </a:p>
        </p:txBody>
      </p:sp>
      <p:pic>
        <p:nvPicPr>
          <p:cNvPr id="159" name="Google Shape;159;p27"/>
          <p:cNvPicPr preferRelativeResize="0"/>
          <p:nvPr/>
        </p:nvPicPr>
        <p:blipFill rotWithShape="1">
          <a:blip r:embed="rId3">
            <a:alphaModFix/>
          </a:blip>
          <a:srcRect b="0" l="3705" r="6576" t="0"/>
          <a:stretch/>
        </p:blipFill>
        <p:spPr>
          <a:xfrm>
            <a:off x="280800" y="1121600"/>
            <a:ext cx="8582403" cy="341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2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2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chemeClr val="dk2"/>
                </a:solidFill>
              </a:rPr>
              <a:t>‹#›</a:t>
            </a:fld>
            <a:endParaRPr>
              <a:solidFill>
                <a:schemeClr val="dk2"/>
              </a:solidFill>
            </a:endParaRPr>
          </a:p>
        </p:txBody>
      </p:sp>
      <p:pic>
        <p:nvPicPr>
          <p:cNvPr id="167" name="Google Shape;167;p28" title="Experiment 2a - 1 Path.mkv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2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2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chemeClr val="dk2"/>
                </a:solidFill>
              </a:rPr>
              <a:t>‹#›</a:t>
            </a:fld>
            <a:endParaRPr>
              <a:solidFill>
                <a:schemeClr val="dk2"/>
              </a:solidFill>
            </a:endParaRPr>
          </a:p>
        </p:txBody>
      </p:sp>
      <p:pic>
        <p:nvPicPr>
          <p:cNvPr id="175" name="Google Shape;175;p29" title="Experiment 2a - 64 Paths.mkv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30"/>
          <p:cNvSpPr txBox="1"/>
          <p:nvPr>
            <p:ph type="title"/>
          </p:nvPr>
        </p:nvSpPr>
        <p:spPr>
          <a:xfrm>
            <a:off x="311700" y="2585688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3000"/>
              <a:t>Effect of Multithreading</a:t>
            </a:r>
            <a:endParaRPr i="1" sz="3000"/>
          </a:p>
        </p:txBody>
      </p:sp>
      <p:sp>
        <p:nvSpPr>
          <p:cNvPr id="181" name="Google Shape;181;p3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82" name="Google Shape;182;p30"/>
          <p:cNvSpPr txBox="1"/>
          <p:nvPr>
            <p:ph type="title"/>
          </p:nvPr>
        </p:nvSpPr>
        <p:spPr>
          <a:xfrm>
            <a:off x="311700" y="1716013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100"/>
              <a:t>Experimentation</a:t>
            </a:r>
            <a:endParaRPr sz="4100"/>
          </a:p>
        </p:txBody>
      </p:sp>
      <p:sp>
        <p:nvSpPr>
          <p:cNvPr id="183" name="Google Shape;183;p30"/>
          <p:cNvSpPr/>
          <p:nvPr/>
        </p:nvSpPr>
        <p:spPr>
          <a:xfrm>
            <a:off x="372725" y="-234675"/>
            <a:ext cx="96600" cy="5687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31"/>
          <p:cNvSpPr txBox="1"/>
          <p:nvPr>
            <p:ph idx="1" type="body"/>
          </p:nvPr>
        </p:nvSpPr>
        <p:spPr>
          <a:xfrm>
            <a:off x="311700" y="2365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5"/>
              <a:buFont typeface="Arial"/>
              <a:buNone/>
            </a:pPr>
            <a:r>
              <a:rPr b="1" lang="en" sz="2050">
                <a:solidFill>
                  <a:schemeClr val="dk1"/>
                </a:solidFill>
              </a:rPr>
              <a:t>Multithreading saves lots of time</a:t>
            </a:r>
            <a:endParaRPr b="1" sz="69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3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chemeClr val="dk2"/>
                </a:solidFill>
              </a:rPr>
              <a:t>‹#›</a:t>
            </a:fld>
            <a:endParaRPr>
              <a:solidFill>
                <a:schemeClr val="dk2"/>
              </a:solidFill>
            </a:endParaRPr>
          </a:p>
        </p:txBody>
      </p:sp>
      <p:pic>
        <p:nvPicPr>
          <p:cNvPr id="190" name="Google Shape;190;p31"/>
          <p:cNvPicPr preferRelativeResize="0"/>
          <p:nvPr/>
        </p:nvPicPr>
        <p:blipFill rotWithShape="1">
          <a:blip r:embed="rId3">
            <a:alphaModFix/>
          </a:blip>
          <a:srcRect b="0" l="-900" r="899" t="0"/>
          <a:stretch/>
        </p:blipFill>
        <p:spPr>
          <a:xfrm>
            <a:off x="1701875" y="751656"/>
            <a:ext cx="5740226" cy="4305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3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Conclusion</a:t>
            </a:r>
            <a:endParaRPr/>
          </a:p>
        </p:txBody>
      </p:sp>
      <p:sp>
        <p:nvSpPr>
          <p:cNvPr id="196" name="Google Shape;196;p3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3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chemeClr val="dk2"/>
                </a:solidFill>
              </a:rPr>
              <a:t>‹#›</a:t>
            </a:fld>
            <a:endParaRPr>
              <a:solidFill>
                <a:schemeClr val="dk2"/>
              </a:solidFill>
            </a:endParaRPr>
          </a:p>
        </p:txBody>
      </p:sp>
      <p:pic>
        <p:nvPicPr>
          <p:cNvPr id="198" name="Google Shape;198;p32"/>
          <p:cNvPicPr preferRelativeResize="0"/>
          <p:nvPr/>
        </p:nvPicPr>
        <p:blipFill rotWithShape="1">
          <a:blip r:embed="rId3">
            <a:alphaModFix/>
          </a:blip>
          <a:srcRect b="4897" l="0" r="0" t="0"/>
          <a:stretch/>
        </p:blipFill>
        <p:spPr>
          <a:xfrm>
            <a:off x="1046600" y="0"/>
            <a:ext cx="7050798" cy="4891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